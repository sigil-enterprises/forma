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6" r:id="rId5"/>
    <p:sldId id="321" r:id="rId6"/>
    <p:sldId id="320" r:id="rId7"/>
    <p:sldId id="31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A9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83515" autoAdjust="0"/>
  </p:normalViewPr>
  <p:slideViewPr>
    <p:cSldViewPr snapToGrid="0">
      <p:cViewPr>
        <p:scale>
          <a:sx n="55" d="100"/>
          <a:sy n="55" d="100"/>
        </p:scale>
        <p:origin x="240" y="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37E77-6307-423A-8FEC-92E9FAE1612F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7BBD3-B800-4F99-A401-23BCF21887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91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Time windows: Separate boxes, Placed in different rows to distinguished overlap</a:t>
            </a:r>
          </a:p>
          <a:p>
            <a:pPr>
              <a:spcAft>
                <a:spcPts val="800"/>
              </a:spcAft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Columns: Indicate a date on the patient timeline</a:t>
            </a:r>
          </a:p>
          <a:p>
            <a:pPr>
              <a:spcAft>
                <a:spcPts val="800"/>
              </a:spcAft>
            </a:pP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7BBD3-B800-4F99-A401-23BCF21887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94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0ADA0-30D4-9545-F53D-1F7271DB5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29AA18B-DA10-94CD-AD14-690857BE8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8D64E01-6E39-73D5-F61B-D5171509C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Construir um </a:t>
            </a:r>
            <a:r>
              <a:rPr lang="pt-PT" dirty="0" err="1"/>
              <a:t>template</a:t>
            </a:r>
            <a:r>
              <a:rPr lang="pt-PT" dirty="0"/>
              <a:t> p isto</a:t>
            </a:r>
          </a:p>
          <a:p>
            <a:r>
              <a:rPr lang="en-US" dirty="0"/>
              <a:t>Exposure-based cohort</a:t>
            </a:r>
          </a:p>
        </p:txBody>
      </p:sp>
    </p:spTree>
    <p:extLst>
      <p:ext uri="{BB962C8B-B14F-4D97-AF65-F5344CB8AC3E}">
        <p14:creationId xmlns:p14="http://schemas.microsoft.com/office/powerpoint/2010/main" val="3987133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21DFA-33C1-9F98-B742-FB0199F16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5B4D731A-97DD-86FF-9418-029635DF8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5348E92-DC78-9C0B-C54E-9009B0528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Construir um </a:t>
            </a:r>
            <a:r>
              <a:rPr lang="pt-PT" dirty="0" err="1"/>
              <a:t>template</a:t>
            </a:r>
            <a:r>
              <a:rPr lang="pt-PT" dirty="0"/>
              <a:t> p isto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403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information that may be conceptualized as characterizing a point in time, such as baseline patient characteristics before the start of exposure, is actually recorded during a time window through a series of encounters.</a:t>
            </a:r>
          </a:p>
          <a:p>
            <a:pPr marL="158750" indent="0">
              <a:buNone/>
            </a:pPr>
            <a:r>
              <a:rPr lang="en-US" dirty="0"/>
              <a:t>When an effectiveness or safety study is implemented in a longitudinal database, the time scale shifts from calendar time to patient event time. </a:t>
            </a:r>
          </a:p>
          <a:p>
            <a:pPr marL="158750" indent="0">
              <a:buNone/>
            </a:pPr>
            <a:r>
              <a:rPr lang="en-US" dirty="0"/>
              <a:t>Specific algorithms define events in the patient timeline.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CED is considered a first-order anchor because most other anchors and parameters used in study implementation will be defined relative to it. The CED is de-</a:t>
            </a:r>
          </a:p>
          <a:p>
            <a:pPr marL="158750" indent="0">
              <a:buNone/>
            </a:pPr>
            <a:r>
              <a:rPr lang="en-US" dirty="0"/>
              <a:t>fined by an inclusion rule, along with multiple exclusion criteria that are sequentially applied.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a cohort study looking at risk for cardiovascular outcomes in patients after percutaneous coronary intervention or acute coronary syndrome defined </a:t>
            </a:r>
          </a:p>
          <a:p>
            <a:pPr marL="158750" indent="0">
              <a:buNone/>
            </a:pPr>
            <a:r>
              <a:rPr lang="en-US" dirty="0"/>
              <a:t>the CED as the date of hospital discharge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In many applications, we want to make sure that the outcome of interest has not yet occurred at the time of study entry.</a:t>
            </a:r>
          </a:p>
        </p:txBody>
      </p:sp>
    </p:spTree>
    <p:extLst>
      <p:ext uri="{BB962C8B-B14F-4D97-AF65-F5344CB8AC3E}">
        <p14:creationId xmlns:p14="http://schemas.microsoft.com/office/powerpoint/2010/main" val="733632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85CA2-6699-1A79-9544-2FDBEF5FE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7E2140-C215-2099-8F0C-1E6398FA8B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4EE5734-6CD4-4B81-DE5A-83A222FD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4F6-9A5D-4074-B236-474F03DE051E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0AA6F8E-5E7F-F8B3-D47F-284AE2E13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E27F757-5C0E-4A08-E4E9-B8AE4E5A2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EA3-F7D6-462A-ABD3-DC0F4286C9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8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AD54D-705B-C28D-8D09-B2458D5EB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2256B44-460A-F8D8-1217-571094525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ADFF644-FB02-ED86-BA0C-3FFC042D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4F6-9A5D-4074-B236-474F03DE051E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F842912-3797-F64A-A2D8-1872E4FEF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CEDC29A-26AD-752E-C067-01922257E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EA3-F7D6-462A-ABD3-DC0F4286C9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18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638EF-E2CA-A244-7E5B-2CB883C29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842BD4C-123D-C865-1D15-378CBE24F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F7A6AA3-A672-52CF-21DE-E4D621F2A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4F6-9A5D-4074-B236-474F03DE051E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EC1ABC2-D3F6-E517-3625-2C6F6C121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F6C1BB4-E871-0536-97F4-25D0F18E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EA3-F7D6-462A-ABD3-DC0F4286C9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3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C89D3A-7D91-0A26-B1DE-241C2E51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01C6C12-6CA5-C647-ED5F-2E7653768C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E4C31FD-134D-EB13-AD10-BB08D8A9E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3DF316F-F64B-6803-6CC5-EB67FA660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4F6-9A5D-4074-B236-474F03DE051E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D5420AE-A66A-13EB-2F90-16E06F304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A0CACEC-1C39-A683-0BCD-F6C81111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EA3-F7D6-462A-ABD3-DC0F4286C9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7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D1A902-A9E8-3E31-CA41-90344AC98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13FBD4A-FCCC-B9E3-DF38-120850612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DDE210F-0294-EFA1-8EF2-18B326A42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A98E040E-B0CE-1970-A9DB-9B81B5CDB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12847656-8BF9-72CA-92DD-72D3D4D5DB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3D09C397-0CE9-3FCF-8A6C-E7AA63B1F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4F6-9A5D-4074-B236-474F03DE051E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154682E-07C2-88FC-4C11-EDB43E30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960D943A-F658-B75B-2002-B20D26C7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EA3-F7D6-462A-ABD3-DC0F4286C9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311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3FDCCE-D170-19B0-74A6-9CFD8AB34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A7E854AE-0CF5-B309-998D-AE9A4205A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4F6-9A5D-4074-B236-474F03DE051E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124670D2-7A01-73B5-9A86-3D38B6C87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ABC58EBB-B8CC-C394-2F44-77EFE2D6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EA3-F7D6-462A-ABD3-DC0F4286C9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5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7E575DD3-3A04-EDAA-9BD6-C722B9F0E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4F6-9A5D-4074-B236-474F03DE051E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C04B0FBC-79F1-AEC2-51E0-F9774153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90757B0-5A5C-3FE0-A544-5168340C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EA3-F7D6-462A-ABD3-DC0F4286C9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00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71B70-8566-8602-42C0-32E159473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94EDDC4-9152-9AFD-D6BD-D2C3E1206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E62518D0-CFBD-9231-0B0A-6DC89F29D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07D3F54-35A0-FC09-7BE4-8A66E4093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4F6-9A5D-4074-B236-474F03DE051E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ABFACD9-57BE-A543-FC04-B3ADF97D4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39C3D23-C3E7-087D-ADA8-134B3B09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EA3-F7D6-462A-ABD3-DC0F4286C9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376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96CB7-7CCC-CDD9-F25D-686E68CEE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892422DF-7475-EE67-96B2-D5B08ECB0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04ED09F-D7FC-BA69-EF9C-8E8BC102C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884EEFA-666D-0C63-00D8-6AACDFB94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4F6-9A5D-4074-B236-474F03DE051E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4CBEA74-AD14-7028-0136-56C38AEE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3312957-9AA9-CA01-6F16-D16F7AE6C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EA3-F7D6-462A-ABD3-DC0F4286C9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82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5A64E-CCD6-46CD-1AB3-998D5909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4CA0809-9977-F626-4168-05A920523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D331CF1-DA69-E84F-6B6E-6EC825E88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4F6-9A5D-4074-B236-474F03DE051E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57AE2B0-9879-45D6-C97B-6149555A2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27BC320-C4E5-C12D-8128-1B4E710E5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EA3-F7D6-462A-ABD3-DC0F4286C9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70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3070F7-BCB7-2A5E-3C43-E3BEA320A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DFB34B44-87D5-CCDF-938E-C059060BF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935E543-9B31-24FA-5516-856D0F93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4F6-9A5D-4074-B236-474F03DE051E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3C71108-E140-558D-7C82-991800F8C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91C74D1-0900-2A65-CADA-E0D122406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1EA3-F7D6-462A-ABD3-DC0F4286C9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91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cap="all" baseline="0">
                <a:solidFill>
                  <a:srgbClr val="074C6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12;p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  <a:defRPr sz="2133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3" name="Google Shape;13;p1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PT" smtClean="0"/>
              <a:pPr/>
              <a:t>‹nº›</a:t>
            </a:fld>
            <a:endParaRPr lang="pt-PT" dirty="0"/>
          </a:p>
        </p:txBody>
      </p:sp>
      <p:pic>
        <p:nvPicPr>
          <p:cNvPr id="3" name="Imagem 2" descr="Uma imagem com origami&#10;&#10;Descrição gerada automaticamente">
            <a:extLst>
              <a:ext uri="{FF2B5EF4-FFF2-40B4-BE49-F238E27FC236}">
                <a16:creationId xmlns:a16="http://schemas.microsoft.com/office/drawing/2014/main" id="{DF9365D9-1477-37EC-F055-1F580812BB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7354"/>
          <a:stretch/>
        </p:blipFill>
        <p:spPr>
          <a:xfrm>
            <a:off x="-166254" y="5912003"/>
            <a:ext cx="1451956" cy="113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19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DACC4698-2E23-2519-4D04-9E70A5EF1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CD52956-2959-E6F9-1810-097288288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E8828A5-858F-988E-2186-70DD90CD4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8C4F6-9A5D-4074-B236-474F03DE051E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37D3506-0EAF-1EF8-F4AD-6B22395C5B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D316FD3-9A72-DE34-C3DE-531CEC7A7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A01EA3-F7D6-462A-ABD3-DC0F4286C9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38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rive.google.com/file/d/1B825cZ6Kvo4W_GBPwhayOEdZgiXRGc53/view?usp=drive_link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rive.google.com/file/d/1B825cZ6Kvo4W_GBPwhayOEdZgiXRGc53/view?usp=drive_link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rive.google.com/file/d/1B825cZ6Kvo4W_GBPwhayOEdZgiXRGc53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xão reta unidirecional 4">
            <a:extLst>
              <a:ext uri="{FF2B5EF4-FFF2-40B4-BE49-F238E27FC236}">
                <a16:creationId xmlns:a16="http://schemas.microsoft.com/office/drawing/2014/main" id="{3965C8D7-EE20-0D3E-AE94-E1F0E95ADF37}"/>
              </a:ext>
            </a:extLst>
          </p:cNvPr>
          <p:cNvCxnSpPr/>
          <p:nvPr/>
        </p:nvCxnSpPr>
        <p:spPr>
          <a:xfrm>
            <a:off x="1658203" y="5759355"/>
            <a:ext cx="933506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4ADAE8B0-679B-AAC4-20D4-F09A168671E6}"/>
              </a:ext>
            </a:extLst>
          </p:cNvPr>
          <p:cNvSpPr txBox="1"/>
          <p:nvPr/>
        </p:nvSpPr>
        <p:spPr>
          <a:xfrm>
            <a:off x="1037230" y="5846445"/>
            <a:ext cx="1992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 err="1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</a:t>
            </a:r>
            <a:r>
              <a:rPr lang="pt-PT" sz="1200" b="1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DD, YYYY</a:t>
            </a:r>
            <a:endParaRPr lang="en-US" sz="1200" b="1" dirty="0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12DDCA8-65B7-9815-88E5-4AB69B8B7B7A}"/>
              </a:ext>
            </a:extLst>
          </p:cNvPr>
          <p:cNvSpPr txBox="1"/>
          <p:nvPr/>
        </p:nvSpPr>
        <p:spPr>
          <a:xfrm>
            <a:off x="10299511" y="5846445"/>
            <a:ext cx="1992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 err="1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</a:t>
            </a:r>
            <a:r>
              <a:rPr lang="pt-PT" sz="1200" b="1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DD, YYYY</a:t>
            </a:r>
            <a:endParaRPr lang="en-US" sz="1200" b="1" dirty="0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9" name="Conexão reta unidirecional 8">
            <a:extLst>
              <a:ext uri="{FF2B5EF4-FFF2-40B4-BE49-F238E27FC236}">
                <a16:creationId xmlns:a16="http://schemas.microsoft.com/office/drawing/2014/main" id="{58CAF77A-8BBF-0389-B4F8-0F41EA316447}"/>
              </a:ext>
            </a:extLst>
          </p:cNvPr>
          <p:cNvCxnSpPr>
            <a:cxnSpLocks/>
          </p:cNvCxnSpPr>
          <p:nvPr/>
        </p:nvCxnSpPr>
        <p:spPr>
          <a:xfrm>
            <a:off x="6400800" y="1166949"/>
            <a:ext cx="0" cy="5035961"/>
          </a:xfrm>
          <a:prstGeom prst="straightConnector1">
            <a:avLst/>
          </a:prstGeom>
          <a:ln w="1016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F3D9AC6C-FCC9-603D-44C9-DB0E82EDCBDC}"/>
              </a:ext>
            </a:extLst>
          </p:cNvPr>
          <p:cNvSpPr/>
          <p:nvPr/>
        </p:nvSpPr>
        <p:spPr>
          <a:xfrm>
            <a:off x="2029098" y="3977977"/>
            <a:ext cx="4310286" cy="692616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Covariate</a:t>
            </a:r>
            <a:r>
              <a:rPr lang="pt-PT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PT" sz="12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assessment</a:t>
            </a:r>
            <a:r>
              <a:rPr lang="pt-PT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PT" sz="12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window</a:t>
            </a:r>
            <a:endParaRPr lang="pt-PT" sz="12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pt-PT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</a:t>
            </a:r>
            <a:r>
              <a:rPr lang="pt-PT" sz="12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xxx</a:t>
            </a:r>
            <a:r>
              <a:rPr lang="pt-PT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)†</a:t>
            </a:r>
            <a:endParaRPr lang="pt-PT" sz="12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pt-PT" sz="12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Days</a:t>
            </a:r>
            <a:r>
              <a:rPr lang="pt-PT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[-</a:t>
            </a:r>
            <a:r>
              <a:rPr lang="pt-PT" sz="12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xxx</a:t>
            </a:r>
            <a:r>
              <a:rPr lang="pt-PT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-x]</a:t>
            </a:r>
            <a:endParaRPr lang="en-US" sz="12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47188E9-6E42-868B-EE57-7FAE2FEA74D1}"/>
              </a:ext>
            </a:extLst>
          </p:cNvPr>
          <p:cNvSpPr/>
          <p:nvPr/>
        </p:nvSpPr>
        <p:spPr>
          <a:xfrm>
            <a:off x="2878228" y="2478578"/>
            <a:ext cx="3471081" cy="69261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Covariate</a:t>
            </a:r>
            <a:r>
              <a:rPr lang="pt-PT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PT" sz="12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assessment</a:t>
            </a:r>
            <a:r>
              <a:rPr lang="pt-PT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PT" sz="12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window</a:t>
            </a:r>
            <a:endParaRPr lang="pt-PT" sz="12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pt-PT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</a:t>
            </a:r>
            <a:r>
              <a:rPr lang="pt-PT" sz="12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xxx</a:t>
            </a:r>
            <a:r>
              <a:rPr lang="pt-PT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  <a:r>
              <a:rPr lang="pt-PT" sz="1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*</a:t>
            </a:r>
          </a:p>
          <a:p>
            <a:pPr algn="ctr"/>
            <a:r>
              <a:rPr lang="pt-PT" sz="12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Days</a:t>
            </a:r>
            <a:r>
              <a:rPr lang="pt-PT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[-x, -x]</a:t>
            </a:r>
            <a:endParaRPr lang="en-US" sz="12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0791EB5-B0AC-A039-180C-EFCDA799D740}"/>
              </a:ext>
            </a:extLst>
          </p:cNvPr>
          <p:cNvSpPr/>
          <p:nvPr/>
        </p:nvSpPr>
        <p:spPr>
          <a:xfrm>
            <a:off x="6348600" y="3339949"/>
            <a:ext cx="104400" cy="4708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5818801-3030-77FB-62BA-D53E95AFBDC5}"/>
              </a:ext>
            </a:extLst>
          </p:cNvPr>
          <p:cNvSpPr/>
          <p:nvPr/>
        </p:nvSpPr>
        <p:spPr>
          <a:xfrm>
            <a:off x="4032071" y="3271552"/>
            <a:ext cx="2320089" cy="6926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Covariate</a:t>
            </a:r>
            <a:r>
              <a:rPr lang="pt-PT" sz="12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PT" sz="1200" b="1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assessment</a:t>
            </a:r>
            <a:r>
              <a:rPr lang="pt-PT" sz="12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PT" sz="1200" b="1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window</a:t>
            </a:r>
            <a:endParaRPr lang="pt-PT" sz="1200" b="1" dirty="0">
              <a:solidFill>
                <a:schemeClr val="accen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pt-PT" sz="12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</a:t>
            </a:r>
            <a:r>
              <a:rPr lang="pt-PT" sz="1200" b="1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xxx</a:t>
            </a:r>
            <a:r>
              <a:rPr lang="pt-PT" sz="12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)+</a:t>
            </a:r>
          </a:p>
          <a:p>
            <a:pPr algn="ctr"/>
            <a:r>
              <a:rPr lang="pt-PT" sz="1200" b="1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Days</a:t>
            </a:r>
            <a:r>
              <a:rPr lang="pt-PT" sz="12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[-</a:t>
            </a:r>
            <a:r>
              <a:rPr lang="pt-PT" sz="1200" b="1" dirty="0" err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xxx</a:t>
            </a:r>
            <a:r>
              <a:rPr lang="pt-PT" sz="12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-x]</a:t>
            </a:r>
            <a:endParaRPr lang="en-US" sz="1200" b="1" dirty="0">
              <a:solidFill>
                <a:schemeClr val="accen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305DE02-24F2-7A29-A3DF-D8BE20A21184}"/>
              </a:ext>
            </a:extLst>
          </p:cNvPr>
          <p:cNvSpPr txBox="1"/>
          <p:nvPr/>
        </p:nvSpPr>
        <p:spPr>
          <a:xfrm>
            <a:off x="5456713" y="559096"/>
            <a:ext cx="1992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b="1" dirty="0" err="1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Cohort</a:t>
            </a:r>
            <a:r>
              <a:rPr lang="pt-PT" sz="1200" b="1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PT" sz="1200" b="1" dirty="0" err="1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Entry</a:t>
            </a:r>
            <a:r>
              <a:rPr lang="pt-PT" sz="1200" b="1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Date</a:t>
            </a:r>
          </a:p>
          <a:p>
            <a:pPr algn="ctr"/>
            <a:r>
              <a:rPr lang="pt-PT" sz="1200" b="1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</a:t>
            </a:r>
            <a:r>
              <a:rPr lang="pt-PT" sz="1200" b="1" dirty="0" err="1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xxxxxxx</a:t>
            </a:r>
            <a:r>
              <a:rPr lang="pt-PT" sz="1200" b="1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  <a:p>
            <a:pPr algn="ctr"/>
            <a:r>
              <a:rPr lang="pt-PT" sz="1200" b="1" dirty="0" err="1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Day</a:t>
            </a:r>
            <a:r>
              <a:rPr lang="pt-PT" sz="1200" b="1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0</a:t>
            </a:r>
            <a:endParaRPr lang="en-US" sz="1200" b="1" dirty="0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660E0E6-7656-6249-0045-5F91BE423FDC}"/>
              </a:ext>
            </a:extLst>
          </p:cNvPr>
          <p:cNvSpPr/>
          <p:nvPr/>
        </p:nvSpPr>
        <p:spPr>
          <a:xfrm>
            <a:off x="2877012" y="1611564"/>
            <a:ext cx="3471081" cy="692616"/>
          </a:xfrm>
          <a:prstGeom prst="rect">
            <a:avLst/>
          </a:prstGeom>
          <a:solidFill>
            <a:srgbClr val="7BA9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Exclusive </a:t>
            </a:r>
            <a:r>
              <a:rPr lang="pt-PT" sz="12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assessment</a:t>
            </a:r>
            <a:r>
              <a:rPr lang="pt-PT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PT" sz="12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window</a:t>
            </a:r>
            <a:endParaRPr lang="pt-PT" sz="12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pt-PT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</a:t>
            </a:r>
            <a:r>
              <a:rPr lang="pt-PT" sz="12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xxx</a:t>
            </a:r>
            <a:r>
              <a:rPr lang="pt-PT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)‡</a:t>
            </a:r>
          </a:p>
          <a:p>
            <a:pPr algn="ctr"/>
            <a:r>
              <a:rPr lang="pt-PT" sz="12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Days</a:t>
            </a:r>
            <a:r>
              <a:rPr lang="pt-PT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[-x, -x]</a:t>
            </a:r>
            <a:endParaRPr lang="en-US" sz="12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6E2DEBD-A1A0-3E7D-AFAF-F9CD86A40249}"/>
              </a:ext>
            </a:extLst>
          </p:cNvPr>
          <p:cNvSpPr/>
          <p:nvPr/>
        </p:nvSpPr>
        <p:spPr>
          <a:xfrm>
            <a:off x="6347187" y="4852209"/>
            <a:ext cx="3568890" cy="692613"/>
          </a:xfrm>
          <a:prstGeom prst="rect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28575">
            <a:solidFill>
              <a:schemeClr val="accent6">
                <a:lumMod val="60000"/>
                <a:lumOff val="40000"/>
                <a:alpha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Follow-up </a:t>
            </a:r>
            <a:r>
              <a:rPr lang="pt-PT" sz="1200" b="1" dirty="0" err="1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window</a:t>
            </a:r>
            <a:endParaRPr lang="pt-PT" sz="1200" b="1" dirty="0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pt-PT" sz="1200" b="1" dirty="0" err="1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Days</a:t>
            </a:r>
            <a:r>
              <a:rPr lang="pt-PT" sz="1200" b="1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[0, censor]#</a:t>
            </a:r>
            <a:endParaRPr lang="en-US" sz="1200" b="1" dirty="0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439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CDFD1-3DD7-98F0-E0EB-C5E23D78E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63D7202-5D22-DE2D-F3F9-A4DAAC4FE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01" y="2842702"/>
            <a:ext cx="3760424" cy="2904285"/>
          </a:xfrm>
        </p:spPr>
        <p:txBody>
          <a:bodyPr>
            <a:normAutofit/>
          </a:bodyPr>
          <a:lstStyle/>
          <a:p>
            <a:pPr marL="152396" indent="0">
              <a:spcAft>
                <a:spcPts val="800"/>
              </a:spcAft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Exposure-based cohort</a:t>
            </a:r>
          </a:p>
          <a:p>
            <a:pPr marL="152396" indent="0">
              <a:spcAft>
                <a:spcPts val="800"/>
              </a:spcAft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Sequential steps from top to bottom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A53003A-D42D-9334-6B84-B0F98E985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943267"/>
          </a:xfrm>
        </p:spPr>
        <p:txBody>
          <a:bodyPr>
            <a:normAutofit/>
          </a:bodyPr>
          <a:lstStyle/>
          <a:p>
            <a:r>
              <a:rPr lang="en-US" sz="2133" dirty="0"/>
              <a:t>study design diagram</a:t>
            </a:r>
          </a:p>
        </p:txBody>
      </p:sp>
      <p:cxnSp>
        <p:nvCxnSpPr>
          <p:cNvPr id="11" name="Conexão reta unidirecional 10">
            <a:extLst>
              <a:ext uri="{FF2B5EF4-FFF2-40B4-BE49-F238E27FC236}">
                <a16:creationId xmlns:a16="http://schemas.microsoft.com/office/drawing/2014/main" id="{4ECC5481-7934-530D-7B5A-DFC59A265E2B}"/>
              </a:ext>
            </a:extLst>
          </p:cNvPr>
          <p:cNvCxnSpPr>
            <a:cxnSpLocks/>
          </p:cNvCxnSpPr>
          <p:nvPr/>
        </p:nvCxnSpPr>
        <p:spPr>
          <a:xfrm>
            <a:off x="4254661" y="1065000"/>
            <a:ext cx="0" cy="4079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m 12">
            <a:extLst>
              <a:ext uri="{FF2B5EF4-FFF2-40B4-BE49-F238E27FC236}">
                <a16:creationId xmlns:a16="http://schemas.microsoft.com/office/drawing/2014/main" id="{1B4D3772-A45F-33E8-B451-9ACCFBA1C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125" y="295094"/>
            <a:ext cx="7595043" cy="532136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781D89EE-0760-7A53-29A2-B4DA36A523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4848" y="5616053"/>
            <a:ext cx="10767152" cy="596545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CD66F497-D3CE-2585-2046-96F8EE99FC14}"/>
              </a:ext>
            </a:extLst>
          </p:cNvPr>
          <p:cNvSpPr txBox="1"/>
          <p:nvPr/>
        </p:nvSpPr>
        <p:spPr>
          <a:xfrm>
            <a:off x="6066622" y="6562907"/>
            <a:ext cx="6176789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sv-SE" sz="1333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5"/>
              </a:rPr>
              <a:t>Ann Intern Med 2019;170(6):398-406 </a:t>
            </a:r>
            <a:endParaRPr lang="en-US" sz="1333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54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34172-E2A1-C670-0C96-2F3D0CA59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1A51306-AA5A-7083-415A-CFB285E01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313" y="1536634"/>
            <a:ext cx="8929175" cy="5020127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DD24D248-CA20-AA7B-E717-A806F3FAF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943267"/>
          </a:xfrm>
        </p:spPr>
        <p:txBody>
          <a:bodyPr>
            <a:normAutofit/>
          </a:bodyPr>
          <a:lstStyle/>
          <a:p>
            <a:r>
              <a:rPr lang="en-US" sz="2133" dirty="0"/>
              <a:t>study design diagram</a:t>
            </a:r>
          </a:p>
        </p:txBody>
      </p:sp>
      <p:sp>
        <p:nvSpPr>
          <p:cNvPr id="13" name="Chaveta à esquerda 12">
            <a:extLst>
              <a:ext uri="{FF2B5EF4-FFF2-40B4-BE49-F238E27FC236}">
                <a16:creationId xmlns:a16="http://schemas.microsoft.com/office/drawing/2014/main" id="{C5D246D9-9A5C-5079-599B-96235FFABD2C}"/>
              </a:ext>
            </a:extLst>
          </p:cNvPr>
          <p:cNvSpPr/>
          <p:nvPr/>
        </p:nvSpPr>
        <p:spPr>
          <a:xfrm>
            <a:off x="3101245" y="2805629"/>
            <a:ext cx="159748" cy="62337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52D2504-0171-3609-B38F-8931B7B29378}"/>
              </a:ext>
            </a:extLst>
          </p:cNvPr>
          <p:cNvSpPr txBox="1"/>
          <p:nvPr/>
        </p:nvSpPr>
        <p:spPr>
          <a:xfrm>
            <a:off x="495474" y="2805629"/>
            <a:ext cx="2569965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Columns</a:t>
            </a:r>
          </a:p>
          <a:p>
            <a:pPr>
              <a:spcAft>
                <a:spcPts val="800"/>
              </a:spcAft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Indicate a date on the patient timeline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DB4F5C7-6A46-0421-D375-7D68ADE7ED2D}"/>
              </a:ext>
            </a:extLst>
          </p:cNvPr>
          <p:cNvSpPr txBox="1"/>
          <p:nvPr/>
        </p:nvSpPr>
        <p:spPr>
          <a:xfrm>
            <a:off x="418668" y="4278270"/>
            <a:ext cx="2765520" cy="128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Time windows</a:t>
            </a:r>
          </a:p>
          <a:p>
            <a:pPr>
              <a:spcAft>
                <a:spcPts val="800"/>
              </a:spcAft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Separate boxes</a:t>
            </a:r>
          </a:p>
          <a:p>
            <a:pPr>
              <a:spcAft>
                <a:spcPts val="800"/>
              </a:spcAft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Placed in different rows to distinguished overlap</a:t>
            </a:r>
          </a:p>
        </p:txBody>
      </p:sp>
      <p:sp>
        <p:nvSpPr>
          <p:cNvPr id="17" name="Chaveta à esquerda 16">
            <a:extLst>
              <a:ext uri="{FF2B5EF4-FFF2-40B4-BE49-F238E27FC236}">
                <a16:creationId xmlns:a16="http://schemas.microsoft.com/office/drawing/2014/main" id="{A2338A3B-FE6F-2FB0-EBDA-582C9110E487}"/>
              </a:ext>
            </a:extLst>
          </p:cNvPr>
          <p:cNvSpPr/>
          <p:nvPr/>
        </p:nvSpPr>
        <p:spPr>
          <a:xfrm>
            <a:off x="2952521" y="3593541"/>
            <a:ext cx="272665" cy="248776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4D48581-BC55-9D9C-244F-452212B69841}"/>
              </a:ext>
            </a:extLst>
          </p:cNvPr>
          <p:cNvSpPr txBox="1"/>
          <p:nvPr/>
        </p:nvSpPr>
        <p:spPr>
          <a:xfrm>
            <a:off x="6066622" y="6562907"/>
            <a:ext cx="6176789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sv-SE" sz="1333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4"/>
              </a:rPr>
              <a:t>Ann Intern Med 2019;170(6):398-406 </a:t>
            </a:r>
            <a:endParaRPr lang="en-US" sz="1333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017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F6A05-BFAC-F525-A09E-E5C1E819B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634EB87-C535-8062-D75A-BEB09130C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139" y="1779282"/>
            <a:ext cx="9716856" cy="4369409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CBA69692-10E8-ECC6-F135-CFCAA90D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943267"/>
          </a:xfrm>
        </p:spPr>
        <p:txBody>
          <a:bodyPr>
            <a:normAutofit/>
          </a:bodyPr>
          <a:lstStyle/>
          <a:p>
            <a:r>
              <a:rPr lang="en-US" sz="2133" dirty="0"/>
              <a:t>study design diagram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684782A-08A3-8490-73DE-A88E8E51FE94}"/>
              </a:ext>
            </a:extLst>
          </p:cNvPr>
          <p:cNvSpPr txBox="1"/>
          <p:nvPr/>
        </p:nvSpPr>
        <p:spPr>
          <a:xfrm>
            <a:off x="198315" y="2218529"/>
            <a:ext cx="17994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Transactional data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30ECE04-7699-C5AB-9B3F-C0EE32DC44C1}"/>
              </a:ext>
            </a:extLst>
          </p:cNvPr>
          <p:cNvSpPr txBox="1"/>
          <p:nvPr/>
        </p:nvSpPr>
        <p:spPr>
          <a:xfrm>
            <a:off x="100994" y="4803818"/>
            <a:ext cx="19940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Study</a:t>
            </a:r>
          </a:p>
          <a:p>
            <a:r>
              <a:rPr lang="en-US" sz="2400" dirty="0"/>
              <a:t>implementation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947B1F7-0669-249F-0F0D-648F80B23866}"/>
              </a:ext>
            </a:extLst>
          </p:cNvPr>
          <p:cNvSpPr txBox="1"/>
          <p:nvPr/>
        </p:nvSpPr>
        <p:spPr>
          <a:xfrm>
            <a:off x="6830457" y="5887776"/>
            <a:ext cx="1601119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333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/Index date</a:t>
            </a:r>
            <a:endParaRPr lang="en-US" sz="1333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DF0BF43-040A-8C28-F8AC-7DDF8F444CC3}"/>
              </a:ext>
            </a:extLst>
          </p:cNvPr>
          <p:cNvSpPr txBox="1"/>
          <p:nvPr/>
        </p:nvSpPr>
        <p:spPr>
          <a:xfrm>
            <a:off x="6066622" y="6562907"/>
            <a:ext cx="6176789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sv-SE" sz="1333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4"/>
              </a:rPr>
              <a:t>Ann Intern Med 2019;170(6):398-406 </a:t>
            </a:r>
            <a:endParaRPr lang="en-US" sz="1333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9613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1FD33E3C311F4E89CC54D405A7B84A" ma:contentTypeVersion="1" ma:contentTypeDescription="Create a new document." ma:contentTypeScope="" ma:versionID="e02f4a18f5a54ebd4bb9a1e4c67af3d4">
  <xsd:schema xmlns:xsd="http://www.w3.org/2001/XMLSchema" xmlns:xs="http://www.w3.org/2001/XMLSchema" xmlns:p="http://schemas.microsoft.com/office/2006/metadata/properties" xmlns:ns3="074009fb-524a-4478-a2d9-37a0080b71b2" targetNamespace="http://schemas.microsoft.com/office/2006/metadata/properties" ma:root="true" ma:fieldsID="3df6912ad804230501b925257ef9c15f" ns3:_="">
    <xsd:import namespace="074009fb-524a-4478-a2d9-37a0080b71b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009fb-524a-4478-a2d9-37a0080b71b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B4BE268-C6C3-4861-B883-EFB86A630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4009fb-524a-4478-a2d9-37a0080b71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CF7815-647A-4E6F-96D9-D4A830D158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B7C101-DE43-4E84-9912-D2CD3F0D47CD}">
  <ds:schemaRefs>
    <ds:schemaRef ds:uri="http://schemas.openxmlformats.org/package/2006/metadata/core-properties"/>
    <ds:schemaRef ds:uri="074009fb-524a-4478-a2d9-37a0080b71b2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2635</TotalTime>
  <Words>338</Words>
  <Application>Microsoft Office PowerPoint</Application>
  <PresentationFormat>Ecrã Panorâmico</PresentationFormat>
  <Paragraphs>53</Paragraphs>
  <Slides>4</Slides>
  <Notes>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Lato</vt:lpstr>
      <vt:lpstr>Tema do Office</vt:lpstr>
      <vt:lpstr>Apresentação do PowerPoint</vt:lpstr>
      <vt:lpstr>study design diagram</vt:lpstr>
      <vt:lpstr>study design diagram</vt:lpstr>
      <vt:lpstr>study design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Cristina Jácome</dc:creator>
  <cp:lastModifiedBy>Cristina Jácome</cp:lastModifiedBy>
  <cp:revision>6</cp:revision>
  <dcterms:created xsi:type="dcterms:W3CDTF">2025-01-22T15:18:05Z</dcterms:created>
  <dcterms:modified xsi:type="dcterms:W3CDTF">2025-01-24T11:14:05Z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0x010100631FD33E3C311F4E89CC54D405A7B84A</vt:lpwstr>
  </property>
</Properties>
</file>